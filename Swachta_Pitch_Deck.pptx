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C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3C2C"/>
                </a:solidFill>
                <a:latin typeface="Arial"/>
              </a:rPr>
              <a:t>India circular-economy funding is climbing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Circular economy funding (India, $M)</c:v>
                </c:pt>
              </c:strCache>
            </c:strRef>
          </c:tx>
          <c:spPr>
            <a:solidFill>
              <a:srgbClr val="2E6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130</c:v>
                </c:pt>
                <c:pt idx="2">
                  <c:v>150</c:v>
                </c:pt>
                <c:pt idx="3">
                  <c:v>203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3C2C"/>
              </a:solidFill>
              <a:effectLst/>
            </c:spPr>
          </c:dPt>
          <c:dPt>
            <c:idx val="1"/>
            <c:bubble3D val="0"/>
            <c:spPr>
              <a:solidFill>
                <a:srgbClr val="2E6E4E"/>
              </a:solidFill>
              <a:effectLst/>
            </c:spPr>
          </c:dPt>
          <c:dPt>
            <c:idx val="2"/>
            <c:bubble3D val="0"/>
            <c:spPr>
              <a:solidFill>
                <a:srgbClr val="7FAF8E"/>
              </a:solidFill>
              <a:effectLst/>
            </c:spPr>
          </c:dPt>
          <c:dPt>
            <c:idx val="3"/>
            <c:bubble3D val="0"/>
            <c:spPr>
              <a:solidFill>
                <a:srgbClr val="C9922B"/>
              </a:solidFill>
              <a:effectLst/>
            </c:spPr>
          </c:dPt>
          <c:dPt>
            <c:idx val="4"/>
            <c:bubble3D val="0"/>
            <c:spPr>
              <a:solidFill>
                <a:srgbClr val="C9CFC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Collection ops</c:v>
                </c:pt>
                <c:pt idx="1">
                  <c:v>Tech/app dev</c:v>
                </c:pt>
                <c:pt idx="2">
                  <c:v>Composting setup</c:v>
                </c:pt>
                <c:pt idx="3">
                  <c:v>Community onboarding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F4A3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1F4A3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1F4A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842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SWACHTA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566928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साफ़ शहर, सही दाम  •  Clean City, Fair Price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Technology-Enabled Waste Management &amp; Circular Value Platform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617720"/>
            <a:ext cx="822960" cy="18288"/>
          </a:xfrm>
          <a:prstGeom prst="rect">
            <a:avLst/>
          </a:prstGeom>
          <a:solidFill>
            <a:srgbClr val="2E6E4E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846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Proposal &amp; Pilot Business Case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Ghaziabad Pilot  •  Founder: Shivam Yadav  •  July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waste is outrunning its collection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47672"/>
            <a:ext cx="548640" cy="548640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20903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133,760t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India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947672"/>
            <a:ext cx="548640" cy="548640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814" y="209031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~68%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593592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collected, but only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~19% actually treated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947672"/>
            <a:ext cx="548640" cy="548640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209031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455664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MSW goes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unprocessed daily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54312" y="1947672"/>
            <a:ext cx="548640" cy="548640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958" y="209031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9317736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dumpsite waste has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remediated nationally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little more than half of daily waste is collected nationally, and less than a quarter is treated — the rest reaches landfill or goes unmanaged.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segregation and trust gap, not just an infrastructure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7420"/>
            <a:ext cx="640080" cy="64008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3838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75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waste at the source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0" y="2039112"/>
            <a:ext cx="53949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segregation contaminates streams before they ever reach a processor — killing composting and recycling economics.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1012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53028"/>
            <a:ext cx="640080" cy="64008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1" y="381944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11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123+ PPPs, uneven trust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3474720"/>
            <a:ext cx="53949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partnerships with large private operators face real allegations of inflated data and contracts that exclude local players.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74573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88636"/>
            <a:ext cx="640080" cy="64008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525505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46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invisible workforce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852160" y="4910328"/>
            <a:ext cx="53949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informal waste pickers already do the sorting work today — on thin margins, with no formal recognition.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Swachta owns the layer that's actually broken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waste-to-energy plant. The verified segregation and traceability layer that composters, recyclers, and RDF buyers can't get from an unsegregated municipal stream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F4A3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15768"/>
            <a:ext cx="685800" cy="68580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8940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Requestor App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schedule segregated pickup with a transparent, published fee — and see where their waste actually goes.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423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F4A37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715768"/>
            <a:ext cx="685800" cy="68580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8940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566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App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routes; photo + weight verification at every pickup; transparent, verified earnings for collectors.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423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F4A37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715768"/>
            <a:ext cx="685800" cy="68580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289407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566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Hub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and quality-checks each stream, then routes it to the right downstream buyer or processor.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waste to value: three streams, three realistic pathways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conservative — no owned waste-to-energy plant. Each pathway matches an early-stage, asset-light operator.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23160"/>
            <a:ext cx="621792" cy="621792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8" y="2584826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414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50–60%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 / Organic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3703320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Composting now; decentralized biomethanation as a Phase 2, capital-partner-led step once volumes are proven.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BF1D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2423160"/>
            <a:ext cx="621792" cy="621792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98" y="2584826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4414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20–25%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99432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Recyclables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9432" y="3703320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material, sold to existing recycler networks already active across the NCR region.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94192" y="2423160"/>
            <a:ext cx="621792" cy="621792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858" y="2584826"/>
            <a:ext cx="298460" cy="298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0" y="24414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394192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Non-recyclable Dry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94192" y="3703320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Shredded and baled into RDF, sold to cement kilns and existing waste-to-energy operators.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funded, growing category — with room for a focused entrant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920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93408" y="2157984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09" y="2305385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20299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30,000 cr/yr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452360" y="24231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recoverable material lost annually to poor segregation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92240" y="309067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93408" y="3328416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809" y="3475817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2360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~7.5% CAGR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452360" y="35935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SWM market growth, 2021–2026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92240" y="426110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93408" y="4498848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09" y="4646249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2360" y="4370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930+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452360" y="476402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circular-economy companies in India; only 221 funded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streams, phased — not one bet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65760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/ small-business collection 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Households, small commercial (B2C)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Farms, nurseries, landscapers (B2B)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Recyclables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Recycler / scrap networks (B2B)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 kilns, WtE operators (B2B)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Post-pilot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ULB service 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Ghaziabad Municipal Corp. (B2G)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Post-traction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fees + B2B off-take fund and validate the pilot. A ULB contract is Phase-3 upside earned by evidence — not a Day-1 assumption.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blue ocean — a specific, defensible wedge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Recykal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marketplace &amp; EPR compliance — enterprise-facing, not household-level.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Saahas Zero Waste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93592" y="254203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Institutional/township services — not civic, household-anchored.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WeVOIS Labs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55664" y="254203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collection tracking — overlaps on tech, not on worker-inclusion design.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BF1D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17736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 sector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17736" y="254203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real sorting work today — a workforce to formalise, not displace.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3C2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617720"/>
            <a:ext cx="658368" cy="65836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4788896"/>
            <a:ext cx="316017" cy="31601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74520" y="452628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Swachta's wedge: tier-2 NCR geography, household-level entry (not enterprise), and worker-inclusion as product design — not CSR.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Ghaziabad pilot: 90 days, sequenced to de-risk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5840" y="1645920"/>
            <a:ext cx="3337560" cy="0"/>
          </a:xfrm>
          <a:prstGeom prst="line">
            <a:avLst/>
          </a:prstGeom>
          <a:noFill/>
          <a:ln w="25400">
            <a:solidFill>
              <a:srgbClr val="7FAF8E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1214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450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audit, councillor/RWA engagement, first worker cohort hired, composting partner signed.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53619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800600" y="1645920"/>
            <a:ext cx="3337560" cy="0"/>
          </a:xfrm>
          <a:prstGeom prst="line">
            <a:avLst/>
          </a:prstGeom>
          <a:noFill/>
          <a:ln w="25400">
            <a:solidFill>
              <a:srgbClr val="7FAF8E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BF1D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72000" y="21214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0" y="2450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Launch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572000" y="2971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 in 500–1,000 households; verified-segregation collection; compost + recyclables revenue live.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38160" y="141732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53619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366760" y="21214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366760" y="2450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Operation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366760" y="2971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stream live; pilot metrics measured and published; evidence-based ULB conversations begin.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traction yet — here's exactly what we'll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1F4A37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240280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215" y="239719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 onboarded / retained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household value proposition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196596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1F4A37"/>
          </a:solidFill>
          <a:ln/>
        </p:spPr>
      </p:sp>
      <p:sp>
        <p:nvSpPr>
          <p:cNvPr id="10" name="Shape 7"/>
          <p:cNvSpPr/>
          <p:nvPr/>
        </p:nvSpPr>
        <p:spPr>
          <a:xfrm>
            <a:off x="3557016" y="2240280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927" y="239719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correctly segregated at source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53512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validates or kills the model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84064" y="196596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1F4A37"/>
          </a:solidFill>
          <a:ln/>
        </p:spPr>
      </p:sp>
      <p:sp>
        <p:nvSpPr>
          <p:cNvPr id="15" name="Shape 11"/>
          <p:cNvSpPr/>
          <p:nvPr/>
        </p:nvSpPr>
        <p:spPr>
          <a:xfrm>
            <a:off x="5824728" y="2240280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39" y="239719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household / month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21224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unit economic financiers ask for first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1776" y="196596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1F4A37"/>
          </a:solidFill>
          <a:ln/>
        </p:spPr>
      </p:sp>
      <p:sp>
        <p:nvSpPr>
          <p:cNvPr id="20" name="Shape 15"/>
          <p:cNvSpPr/>
          <p:nvPr/>
        </p:nvSpPr>
        <p:spPr>
          <a:xfrm>
            <a:off x="8092440" y="2240280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351" y="23971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tonne, by stream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88936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stream carries the business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9488" y="196596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1F4A37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60152" y="2240280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063" y="2397191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6648" y="30175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earnings &amp; retention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56648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 and operational risk indicator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 — pilot tranche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operations  </a:t>
            </a:r>
            <a:pPr indent="0" marL="0">
              <a:buNone/>
            </a:pPr>
            <a:r>
              <a:rPr lang="en-US" sz="13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26480" y="1892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Workers, e-carts, PPE — the largest cost driver in any collection model.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app development  </a:t>
            </a:r>
            <a:pPr indent="0" marL="0">
              <a:buNone/>
            </a:pPr>
            <a:r>
              <a:rPr lang="en-US" sz="13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26700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Requestor app, worker app, verification tooling.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Composting off-take setup  </a:t>
            </a:r>
            <a:pPr indent="0" marL="0">
              <a:buNone/>
            </a:pPr>
            <a:r>
              <a:rPr lang="en-US" sz="13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3447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Bins, aggregation points, transport to off-take partner.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onboarding  </a:t>
            </a:r>
            <a:pPr indent="0" marL="0">
              <a:buNone/>
            </a:pPr>
            <a:r>
              <a:rPr lang="en-US" sz="13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4224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Councillor engagement, household onboarding, campaign costs.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contingency  </a:t>
            </a:r>
            <a:pPr indent="0" marL="0">
              <a:buNone/>
            </a:pPr>
            <a:r>
              <a:rPr lang="en-US" sz="13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50017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buffer for an unproven pilot.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sequenced ask, not a single leap to equity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BF1D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94560"/>
            <a:ext cx="621792" cy="621792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8" y="235622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Incubator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90-day pilot without giving up equity on an unproven model — e.g. Swachhata Startup Challenge (~Rs 20L + ULB introductions + IIT Kanpur incubation).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194560"/>
            <a:ext cx="621792" cy="621792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98" y="235622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99432" y="29718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/ CSR Capital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9432" y="347472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pilot metrics exist, sized to fund ward-by-ward expansion across Ghaziabad.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194560"/>
            <a:ext cx="621792" cy="621792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858" y="2356226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972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394192" y="29718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/ VC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94192" y="347472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 unit economics across a full quarter are demonstrated — evidence-based, not vision-based.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— NAMED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risks we see, and how we're built to handle them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ULB / political dependency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household-direct (B2C-anchored); treat ULB relationship as upside, not the base case.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Segregation compliance is 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built into the worker app from day one; incentives tied to compliance.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Off-take price volatility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Diversify across three revenue streams; keep initial contracts short.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Solo, technical founder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an experienced Ward Operations Lead early; build a working advisory board.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Crowded, funded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Differentiate on tier-2 geography and worker-inclusion design, not head-on competition.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 today, deliberately built out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Shivam Yadav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Technical Lead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AI/ML, Lloyd Institute of Engineering and Technology. Founder of Edwizer (AI-driven edtech). AI internship, VelocitiQ Technologies. Build-fast, ship-production-ready operating style with prior end-to-end civic-tech venture experience.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73736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163C2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011680"/>
            <a:ext cx="640080" cy="640080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81" y="21781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gap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09360" y="2697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field-operations or ULB-relations experience on the team yet. Before scaling past the pilot, we are prioritising: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3429000"/>
            <a:ext cx="329184" cy="32918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948" y="3514588"/>
            <a:ext cx="158008" cy="1580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Operations Lead — hired pre-launch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3886200"/>
            <a:ext cx="329184" cy="32918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948" y="3971788"/>
            <a:ext cx="158008" cy="1580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3867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former ULB / municipal SWM official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09360" y="4343400"/>
            <a:ext cx="329184" cy="32918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948" y="4428988"/>
            <a:ext cx="158008" cy="1580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4325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operator from an existing waste-tech venture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tracked alongside revenue, not instead of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9908" y="2084832"/>
            <a:ext cx="603504" cy="603504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19" y="224174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— reliable ward-level collection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BF1D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1980" y="2084832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91" y="224174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Production — material recovery, not landfill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74052" y="2084832"/>
            <a:ext cx="603504" cy="603504"/>
          </a:xfrm>
          <a:prstGeom prst="ellipse">
            <a:avLst/>
          </a:prstGeom>
          <a:solidFill>
            <a:srgbClr val="2E6E4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963" y="224174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9944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 — formal, fairly-paid collection roles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BF1D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36124" y="2084832"/>
            <a:ext cx="603504" cy="603504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035" y="2241743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72016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 — organic diversion cuts landfill methane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F4A37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pilot-stage tranche 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(grant, incubator, or impact-first capital) to fund a 90-day, 2–3 ward Ghaziabad pilot.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generate the traction data — households retained, segregation compliance, cost per household, revenue per tonne — needed for an evidence-based next round.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426220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wards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4407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Ghaziabad pilot scope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4114800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01" y="42622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74920" y="4407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three-stream operation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4114800"/>
            <a:ext cx="566928" cy="566928"/>
          </a:xfrm>
          <a:prstGeom prst="ellipse">
            <a:avLst/>
          </a:prstGeom>
          <a:solidFill>
            <a:srgbClr val="C992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561" y="42622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quarter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869680" y="4407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validated unit economics before equity conversation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1F4A37"/>
          </a:solidFill>
          <a:ln/>
        </p:spPr>
      </p:sp>
      <p:sp>
        <p:nvSpPr>
          <p:cNvPr id="3" name="Shape 1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1F4A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966" y="15855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Saaf Sheher. Sahi Daam.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segregation layer Ghaziabad actually needs.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Yadav — Founder &amp; Technical Lead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github.com/shivbu22   •   linkedin.com/in/shivbu22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SWACHTA — Saaf Sheher, Sahi Daam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Swachta — Investment Proposal</dc:title>
  <dc:subject>PptxGenJS Presentation</dc:subject>
  <dc:creator>Shivam Yadav</dc:creator>
  <cp:lastModifiedBy>Shivam Yadav</cp:lastModifiedBy>
  <cp:revision>1</cp:revision>
  <dcterms:created xsi:type="dcterms:W3CDTF">2026-07-09T09:59:56Z</dcterms:created>
  <dcterms:modified xsi:type="dcterms:W3CDTF">2026-07-09T09:59:56Z</dcterms:modified>
</cp:coreProperties>
</file>